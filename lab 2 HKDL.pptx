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ượng Bùi Văn" userId="58421d7501400e0a" providerId="LiveId" clId="{23BD1B95-C817-4D02-BBA9-E96DC847A989}"/>
    <pc:docChg chg="undo custSel addSld modSld">
      <pc:chgData name="Lượng Bùi Văn" userId="58421d7501400e0a" providerId="LiveId" clId="{23BD1B95-C817-4D02-BBA9-E96DC847A989}" dt="2026-03-15T09:47:35.824" v="370" actId="1076"/>
      <pc:docMkLst>
        <pc:docMk/>
      </pc:docMkLst>
      <pc:sldChg chg="modSp mod">
        <pc:chgData name="Lượng Bùi Văn" userId="58421d7501400e0a" providerId="LiveId" clId="{23BD1B95-C817-4D02-BBA9-E96DC847A989}" dt="2026-03-15T08:13:18.773" v="0" actId="1076"/>
        <pc:sldMkLst>
          <pc:docMk/>
          <pc:sldMk cId="1459666460" sldId="256"/>
        </pc:sldMkLst>
        <pc:spChg chg="mod">
          <ac:chgData name="Lượng Bùi Văn" userId="58421d7501400e0a" providerId="LiveId" clId="{23BD1B95-C817-4D02-BBA9-E96DC847A989}" dt="2026-03-15T08:13:18.773" v="0" actId="1076"/>
          <ac:spMkLst>
            <pc:docMk/>
            <pc:sldMk cId="1459666460" sldId="256"/>
            <ac:spMk id="4" creationId="{B260FC38-0265-8607-E1CC-D4E2B9425998}"/>
          </ac:spMkLst>
        </pc:spChg>
      </pc:sldChg>
      <pc:sldChg chg="addSp delSp modSp mod">
        <pc:chgData name="Lượng Bùi Văn" userId="58421d7501400e0a" providerId="LiveId" clId="{23BD1B95-C817-4D02-BBA9-E96DC847A989}" dt="2026-03-15T08:15:45.462" v="182" actId="1076"/>
        <pc:sldMkLst>
          <pc:docMk/>
          <pc:sldMk cId="904698869" sldId="257"/>
        </pc:sldMkLst>
        <pc:spChg chg="add del mod">
          <ac:chgData name="Lượng Bùi Văn" userId="58421d7501400e0a" providerId="LiveId" clId="{23BD1B95-C817-4D02-BBA9-E96DC847A989}" dt="2026-03-15T08:14:42.216" v="11" actId="478"/>
          <ac:spMkLst>
            <pc:docMk/>
            <pc:sldMk cId="904698869" sldId="257"/>
            <ac:spMk id="2" creationId="{46DB15BF-FC73-0E0E-2050-E4A964DF9EAD}"/>
          </ac:spMkLst>
        </pc:spChg>
        <pc:spChg chg="add">
          <ac:chgData name="Lượng Bùi Văn" userId="58421d7501400e0a" providerId="LiveId" clId="{23BD1B95-C817-4D02-BBA9-E96DC847A989}" dt="2026-03-15T08:13:54.876" v="2"/>
          <ac:spMkLst>
            <pc:docMk/>
            <pc:sldMk cId="904698869" sldId="257"/>
            <ac:spMk id="3" creationId="{1E9066FC-6B17-A860-FED3-8DC357344819}"/>
          </ac:spMkLst>
        </pc:spChg>
        <pc:spChg chg="add mod">
          <ac:chgData name="Lượng Bùi Văn" userId="58421d7501400e0a" providerId="LiveId" clId="{23BD1B95-C817-4D02-BBA9-E96DC847A989}" dt="2026-03-15T08:15:45.462" v="182" actId="1076"/>
          <ac:spMkLst>
            <pc:docMk/>
            <pc:sldMk cId="904698869" sldId="257"/>
            <ac:spMk id="4" creationId="{5B8DBA1D-4C7B-EE9B-2D4B-FDDA18DBF92B}"/>
          </ac:spMkLst>
        </pc:spChg>
      </pc:sldChg>
      <pc:sldChg chg="addSp modSp new mod">
        <pc:chgData name="Lượng Bùi Văn" userId="58421d7501400e0a" providerId="LiveId" clId="{23BD1B95-C817-4D02-BBA9-E96DC847A989}" dt="2026-03-15T08:17:56.621" v="285" actId="1076"/>
        <pc:sldMkLst>
          <pc:docMk/>
          <pc:sldMk cId="1609694282" sldId="258"/>
        </pc:sldMkLst>
        <pc:spChg chg="add mod">
          <ac:chgData name="Lượng Bùi Văn" userId="58421d7501400e0a" providerId="LiveId" clId="{23BD1B95-C817-4D02-BBA9-E96DC847A989}" dt="2026-03-15T08:17:56.621" v="285" actId="1076"/>
          <ac:spMkLst>
            <pc:docMk/>
            <pc:sldMk cId="1609694282" sldId="258"/>
            <ac:spMk id="2" creationId="{BBB46C9E-3953-C08D-AFAF-F57724CF23E0}"/>
          </ac:spMkLst>
        </pc:spChg>
        <pc:spChg chg="add mod">
          <ac:chgData name="Lượng Bùi Văn" userId="58421d7501400e0a" providerId="LiveId" clId="{23BD1B95-C817-4D02-BBA9-E96DC847A989}" dt="2026-03-15T08:17:00.170" v="198" actId="404"/>
          <ac:spMkLst>
            <pc:docMk/>
            <pc:sldMk cId="1609694282" sldId="258"/>
            <ac:spMk id="4" creationId="{83A5923C-E689-EA26-4714-1B51F4F0C018}"/>
          </ac:spMkLst>
        </pc:spChg>
      </pc:sldChg>
      <pc:sldChg chg="addSp modSp new mod">
        <pc:chgData name="Lượng Bùi Văn" userId="58421d7501400e0a" providerId="LiveId" clId="{23BD1B95-C817-4D02-BBA9-E96DC847A989}" dt="2026-03-15T08:24:52.053" v="348" actId="403"/>
        <pc:sldMkLst>
          <pc:docMk/>
          <pc:sldMk cId="1200809056" sldId="259"/>
        </pc:sldMkLst>
        <pc:spChg chg="add mod">
          <ac:chgData name="Lượng Bùi Văn" userId="58421d7501400e0a" providerId="LiveId" clId="{23BD1B95-C817-4D02-BBA9-E96DC847A989}" dt="2026-03-15T08:23:02.484" v="288" actId="1076"/>
          <ac:spMkLst>
            <pc:docMk/>
            <pc:sldMk cId="1200809056" sldId="259"/>
            <ac:spMk id="3" creationId="{EB98EDFF-5D28-5BE6-7565-2E64C66F6DE6}"/>
          </ac:spMkLst>
        </pc:spChg>
        <pc:spChg chg="add mod">
          <ac:chgData name="Lượng Bùi Văn" userId="58421d7501400e0a" providerId="LiveId" clId="{23BD1B95-C817-4D02-BBA9-E96DC847A989}" dt="2026-03-15T08:24:52.053" v="348" actId="403"/>
          <ac:spMkLst>
            <pc:docMk/>
            <pc:sldMk cId="1200809056" sldId="259"/>
            <ac:spMk id="4" creationId="{A1707F83-00AC-5C36-DC6C-106C2D42CB1B}"/>
          </ac:spMkLst>
        </pc:spChg>
      </pc:sldChg>
      <pc:sldChg chg="addSp modSp new mod">
        <pc:chgData name="Lượng Bùi Văn" userId="58421d7501400e0a" providerId="LiveId" clId="{23BD1B95-C817-4D02-BBA9-E96DC847A989}" dt="2026-03-15T09:47:35.824" v="370" actId="1076"/>
        <pc:sldMkLst>
          <pc:docMk/>
          <pc:sldMk cId="503365194" sldId="260"/>
        </pc:sldMkLst>
        <pc:spChg chg="add mod">
          <ac:chgData name="Lượng Bùi Văn" userId="58421d7501400e0a" providerId="LiveId" clId="{23BD1B95-C817-4D02-BBA9-E96DC847A989}" dt="2026-03-15T09:47:13.896" v="367" actId="1076"/>
          <ac:spMkLst>
            <pc:docMk/>
            <pc:sldMk cId="503365194" sldId="260"/>
            <ac:spMk id="2" creationId="{3C111FD3-466A-1788-1893-88B4A6DD0796}"/>
          </ac:spMkLst>
        </pc:spChg>
        <pc:picChg chg="add mod">
          <ac:chgData name="Lượng Bùi Văn" userId="58421d7501400e0a" providerId="LiveId" clId="{23BD1B95-C817-4D02-BBA9-E96DC847A989}" dt="2026-03-15T09:47:35.824" v="370" actId="1076"/>
          <ac:picMkLst>
            <pc:docMk/>
            <pc:sldMk cId="503365194" sldId="260"/>
            <ac:picMk id="3" creationId="{3399429F-BE41-4DF6-AB1C-A65BCBBDF9D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46E96-84FE-861E-C202-D005BC9D00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CB2F77-C581-848F-5A03-821F5B2624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6932E3-F3A1-AB23-9F1B-112C82EBF5B7}"/>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5" name="Footer Placeholder 4">
            <a:extLst>
              <a:ext uri="{FF2B5EF4-FFF2-40B4-BE49-F238E27FC236}">
                <a16:creationId xmlns:a16="http://schemas.microsoft.com/office/drawing/2014/main" id="{28715075-9B76-D39E-2929-3126E6F386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8902EE-6164-01F8-3786-FE3CFDC8D474}"/>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462027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39801-0792-89B3-9390-3712276D53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37B766-3047-A2A2-809B-635A3815FE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D5F77A-810B-7D98-0327-7A44147429D0}"/>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5" name="Footer Placeholder 4">
            <a:extLst>
              <a:ext uri="{FF2B5EF4-FFF2-40B4-BE49-F238E27FC236}">
                <a16:creationId xmlns:a16="http://schemas.microsoft.com/office/drawing/2014/main" id="{D2D35879-0B36-AF03-5151-76B01DF7BA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84614F-6D02-7C44-6B36-9CD6323EC160}"/>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1833323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51862-2F97-68BD-AF8D-7BBC3402F6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06CA43-E9BA-4F67-B521-59C52C3B96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B4BD0D-1EE1-EE96-3FA8-1DEEC3DE73B9}"/>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5" name="Footer Placeholder 4">
            <a:extLst>
              <a:ext uri="{FF2B5EF4-FFF2-40B4-BE49-F238E27FC236}">
                <a16:creationId xmlns:a16="http://schemas.microsoft.com/office/drawing/2014/main" id="{9A8977F1-F65D-8531-7382-393AB01D17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B4961-C9BE-DA29-13E5-A4F486AFDCDE}"/>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3194454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EC84D-2AE1-55C7-AEDE-904A97C9EF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7C28A9-A14D-8F9B-A421-4226AB168A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920967-87BF-8233-3070-AFD2D2FE61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45A226-4BA8-0A8F-053E-33D4C1826707}"/>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6" name="Footer Placeholder 5">
            <a:extLst>
              <a:ext uri="{FF2B5EF4-FFF2-40B4-BE49-F238E27FC236}">
                <a16:creationId xmlns:a16="http://schemas.microsoft.com/office/drawing/2014/main" id="{9D08090E-333E-443F-44A3-CDCD2DD21F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EA225-CDA3-6428-C2FB-A42A746C28A9}"/>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1783784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3B1A9-EAA6-C2D0-E984-3B610D0CEE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452681-9693-12DF-1E1D-1FCAAA622F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13C375-508F-BC32-2D6E-E386B16D13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9CCA19-77F5-6934-6E93-3515A2065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766FAC-EE0F-8087-16E8-C7FD3A2F85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72B46F-E6ED-B189-6457-59D13BFE8962}"/>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8" name="Footer Placeholder 7">
            <a:extLst>
              <a:ext uri="{FF2B5EF4-FFF2-40B4-BE49-F238E27FC236}">
                <a16:creationId xmlns:a16="http://schemas.microsoft.com/office/drawing/2014/main" id="{24ECA2E8-410B-729A-0681-2AE11328AF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53B4D2-25CA-3D5F-CDC1-B68F012C8549}"/>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356630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1C3D7-F386-EB08-F745-5DC5E83D43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EEF367-5F8A-FC4F-8C52-AB9A8C496CA7}"/>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4" name="Footer Placeholder 3">
            <a:extLst>
              <a:ext uri="{FF2B5EF4-FFF2-40B4-BE49-F238E27FC236}">
                <a16:creationId xmlns:a16="http://schemas.microsoft.com/office/drawing/2014/main" id="{0C61CEBB-CA5C-3CE1-5CED-F96843334C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BB078E-A880-9074-19EE-81058DE62274}"/>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3423559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1E6AEB-E1A9-5E1C-032D-E9F4877C3B8E}"/>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3" name="Footer Placeholder 2">
            <a:extLst>
              <a:ext uri="{FF2B5EF4-FFF2-40B4-BE49-F238E27FC236}">
                <a16:creationId xmlns:a16="http://schemas.microsoft.com/office/drawing/2014/main" id="{66AF17C2-4EEB-9566-5E38-CB73FB443F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B08DBC-6285-2FBF-12DB-CA81DCF85D7E}"/>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2421867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9E85B-88AB-FE86-CE3D-37E54756CB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EFC6FB-ACA9-9A93-793F-DDBE1D8226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E68A35-F9DA-2EAD-6499-75179263A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25104-C734-4FD8-ADD1-72191732FB63}"/>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6" name="Footer Placeholder 5">
            <a:extLst>
              <a:ext uri="{FF2B5EF4-FFF2-40B4-BE49-F238E27FC236}">
                <a16:creationId xmlns:a16="http://schemas.microsoft.com/office/drawing/2014/main" id="{42693138-DC56-382D-2345-3C4D36CAA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3715A6-D16B-D6AE-0726-3966B0238DD9}"/>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3628717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C7FD-931D-8773-49F6-D26DFF68EE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096E1F-3CE0-C243-22B8-D4C01B6D69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E8D801-471B-83FE-BAEA-7F5E7E4A83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9F9FA6-0418-0FB8-BE99-9602D20C0684}"/>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6" name="Footer Placeholder 5">
            <a:extLst>
              <a:ext uri="{FF2B5EF4-FFF2-40B4-BE49-F238E27FC236}">
                <a16:creationId xmlns:a16="http://schemas.microsoft.com/office/drawing/2014/main" id="{4C246A3C-FF21-1C77-9954-20AFDA5EFB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B47981-C744-7D66-61A5-E94767E8361E}"/>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2939159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0E25C-C525-9A03-2AB0-D0FF2A0C94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E194A7-83A7-B74B-5731-E917E65495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8CD677-09A0-9421-68FB-90B39B3A8CA4}"/>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5" name="Footer Placeholder 4">
            <a:extLst>
              <a:ext uri="{FF2B5EF4-FFF2-40B4-BE49-F238E27FC236}">
                <a16:creationId xmlns:a16="http://schemas.microsoft.com/office/drawing/2014/main" id="{39AB8441-B612-AB5F-BD91-6D8FBF7C6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F357AB-13F7-16AE-E528-05146F323E1E}"/>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2644991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440D0-CE32-157F-3DAB-D84819E250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FFF318-EF60-9D31-F673-01FF0563F4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BAF9B-3AC7-A432-B391-86464CBCA134}"/>
              </a:ext>
            </a:extLst>
          </p:cNvPr>
          <p:cNvSpPr>
            <a:spLocks noGrp="1"/>
          </p:cNvSpPr>
          <p:nvPr>
            <p:ph type="dt" sz="half" idx="10"/>
          </p:nvPr>
        </p:nvSpPr>
        <p:spPr/>
        <p:txBody>
          <a:bodyPr/>
          <a:lstStyle/>
          <a:p>
            <a:fld id="{6C73329E-82DF-4EF8-B586-973C151F5510}" type="datetimeFigureOut">
              <a:rPr lang="en-US" smtClean="0"/>
              <a:t>3/15/2026</a:t>
            </a:fld>
            <a:endParaRPr lang="en-US"/>
          </a:p>
        </p:txBody>
      </p:sp>
      <p:sp>
        <p:nvSpPr>
          <p:cNvPr id="5" name="Footer Placeholder 4">
            <a:extLst>
              <a:ext uri="{FF2B5EF4-FFF2-40B4-BE49-F238E27FC236}">
                <a16:creationId xmlns:a16="http://schemas.microsoft.com/office/drawing/2014/main" id="{054BD13C-6CC4-B612-E821-B80D0D139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1E17B-8576-E0A6-463C-B45B9D74DF1F}"/>
              </a:ext>
            </a:extLst>
          </p:cNvPr>
          <p:cNvSpPr>
            <a:spLocks noGrp="1"/>
          </p:cNvSpPr>
          <p:nvPr>
            <p:ph type="sldNum" sz="quarter" idx="12"/>
          </p:nvPr>
        </p:nvSpPr>
        <p:spPr/>
        <p:txBody>
          <a:bodyPr/>
          <a:lstStyle/>
          <a:p>
            <a:fld id="{201D3279-FB59-4F69-9EEF-5773EBEB9BDD}" type="slidenum">
              <a:rPr lang="en-US" smtClean="0"/>
              <a:t>‹#›</a:t>
            </a:fld>
            <a:endParaRPr lang="en-US"/>
          </a:p>
        </p:txBody>
      </p:sp>
    </p:spTree>
    <p:extLst>
      <p:ext uri="{BB962C8B-B14F-4D97-AF65-F5344CB8AC3E}">
        <p14:creationId xmlns:p14="http://schemas.microsoft.com/office/powerpoint/2010/main" val="3386731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12C509-6B83-8629-9710-D7B2C517F7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D36A7B-B048-FE39-4936-DE20D796A2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5F7331-1DF1-8558-C7AE-27E5F28F4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3329E-82DF-4EF8-B586-973C151F5510}" type="datetimeFigureOut">
              <a:rPr lang="en-US" smtClean="0"/>
              <a:t>3/15/2026</a:t>
            </a:fld>
            <a:endParaRPr lang="en-US"/>
          </a:p>
        </p:txBody>
      </p:sp>
      <p:sp>
        <p:nvSpPr>
          <p:cNvPr id="5" name="Footer Placeholder 4">
            <a:extLst>
              <a:ext uri="{FF2B5EF4-FFF2-40B4-BE49-F238E27FC236}">
                <a16:creationId xmlns:a16="http://schemas.microsoft.com/office/drawing/2014/main" id="{703A6203-F25A-4DFF-4588-C897B14FEB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86492C-6223-1AC0-7236-8D7F7782C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D3279-FB59-4F69-9EEF-5773EBEB9BDD}" type="slidenum">
              <a:rPr lang="en-US" smtClean="0"/>
              <a:t>‹#›</a:t>
            </a:fld>
            <a:endParaRPr lang="en-US"/>
          </a:p>
        </p:txBody>
      </p:sp>
    </p:spTree>
    <p:extLst>
      <p:ext uri="{BB962C8B-B14F-4D97-AF65-F5344CB8AC3E}">
        <p14:creationId xmlns:p14="http://schemas.microsoft.com/office/powerpoint/2010/main" val="4092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60FC38-0265-8607-E1CC-D4E2B9425998}"/>
              </a:ext>
            </a:extLst>
          </p:cNvPr>
          <p:cNvSpPr txBox="1"/>
          <p:nvPr/>
        </p:nvSpPr>
        <p:spPr>
          <a:xfrm>
            <a:off x="3786433" y="2151727"/>
            <a:ext cx="7711126" cy="2554545"/>
          </a:xfrm>
          <a:prstGeom prst="rect">
            <a:avLst/>
          </a:prstGeom>
          <a:noFill/>
        </p:spPr>
        <p:txBody>
          <a:bodyPr wrap="square" rtlCol="0">
            <a:spAutoFit/>
          </a:bodyPr>
          <a:lstStyle/>
          <a:p>
            <a:r>
              <a:rPr lang="vi-VN" sz="3200" b="1" u="sng"/>
              <a:t>Báo cáo Lab </a:t>
            </a:r>
            <a:r>
              <a:rPr lang="en-US" sz="3200" b="1" u="sng"/>
              <a:t>2:</a:t>
            </a:r>
          </a:p>
          <a:p>
            <a:r>
              <a:rPr lang="vi-VN" sz="3200">
                <a:solidFill>
                  <a:srgbClr val="00B0F0"/>
                </a:solidFill>
              </a:rPr>
              <a:t>SV: BÙI VĂN LƯỢNG </a:t>
            </a:r>
            <a:endParaRPr lang="en-US" sz="3200">
              <a:solidFill>
                <a:srgbClr val="00B0F0"/>
              </a:solidFill>
            </a:endParaRPr>
          </a:p>
          <a:p>
            <a:r>
              <a:rPr lang="vi-VN" sz="3200">
                <a:solidFill>
                  <a:srgbClr val="00B0F0"/>
                </a:solidFill>
              </a:rPr>
              <a:t>MSV: PH67648 </a:t>
            </a:r>
            <a:endParaRPr lang="en-US" sz="3200">
              <a:solidFill>
                <a:srgbClr val="00B0F0"/>
              </a:solidFill>
            </a:endParaRPr>
          </a:p>
          <a:p>
            <a:r>
              <a:rPr lang="vi-VN" sz="3200">
                <a:solidFill>
                  <a:srgbClr val="00B0F0"/>
                </a:solidFill>
              </a:rPr>
              <a:t>Lớp: AI21302 </a:t>
            </a:r>
            <a:endParaRPr lang="en-US" sz="3200">
              <a:solidFill>
                <a:srgbClr val="00B0F0"/>
              </a:solidFill>
            </a:endParaRPr>
          </a:p>
          <a:p>
            <a:r>
              <a:rPr lang="vi-VN" sz="3200">
                <a:solidFill>
                  <a:srgbClr val="00B0F0"/>
                </a:solidFill>
              </a:rPr>
              <a:t>Môn: Khoa học dữ liệu </a:t>
            </a:r>
            <a:endParaRPr lang="en-US" sz="3200">
              <a:solidFill>
                <a:srgbClr val="00B0F0"/>
              </a:solidFill>
            </a:endParaRPr>
          </a:p>
        </p:txBody>
      </p:sp>
    </p:spTree>
    <p:extLst>
      <p:ext uri="{BB962C8B-B14F-4D97-AF65-F5344CB8AC3E}">
        <p14:creationId xmlns:p14="http://schemas.microsoft.com/office/powerpoint/2010/main" val="145966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B8DBA1D-4C7B-EE9B-2D4B-FDDA18DBF92B}"/>
              </a:ext>
            </a:extLst>
          </p:cNvPr>
          <p:cNvSpPr>
            <a:spLocks noChangeArrowheads="1"/>
          </p:cNvSpPr>
          <p:nvPr/>
        </p:nvSpPr>
        <p:spPr bwMode="auto">
          <a:xfrm>
            <a:off x="1168924" y="1203014"/>
            <a:ext cx="11994037"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Google Sans"/>
              </a:rPr>
              <a:t>PHẦN I</a:t>
            </a:r>
            <a:r>
              <a:rPr kumimoji="0" lang="en-US" altLang="en-US" sz="2400" b="1" i="0" u="none" strike="noStrike" cap="none" normalizeH="0">
                <a:ln>
                  <a:noFill/>
                </a:ln>
                <a:solidFill>
                  <a:schemeClr val="tx1"/>
                </a:solidFill>
                <a:effectLst/>
                <a:latin typeface="Google Sans"/>
              </a:rPr>
              <a:t> </a:t>
            </a:r>
            <a:r>
              <a:rPr kumimoji="0" lang="en-US" altLang="en-US" sz="2400" b="1" i="0" u="none" strike="noStrike" cap="none" normalizeH="0" baseline="0">
                <a:ln>
                  <a:noFill/>
                </a:ln>
                <a:solidFill>
                  <a:schemeClr val="tx1"/>
                </a:solidFill>
                <a:effectLst/>
                <a:latin typeface="Google Sans Text"/>
              </a:rPr>
              <a:t>Bài 1:</a:t>
            </a:r>
            <a:r>
              <a:rPr kumimoji="0" lang="en-US" altLang="en-US" sz="800" b="0" i="0" u="none" strike="noStrike" cap="none" normalizeH="0" baseline="0">
                <a:ln>
                  <a:noFill/>
                </a:ln>
                <a:solidFill>
                  <a:schemeClr val="tx1"/>
                </a:solidFill>
                <a:effectLst/>
                <a:latin typeface="Google Sans Text"/>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Google Sans Text"/>
              </a:rPr>
              <a:t>Thực thể: Khách hàng (Customer)</a:t>
            </a:r>
            <a:r>
              <a:rPr kumimoji="0" lang="en-US" altLang="en-US" sz="1800" b="0" i="0" u="none" strike="noStrike" cap="none" normalizeH="0" baseline="0">
                <a:ln>
                  <a:noFill/>
                </a:ln>
                <a:solidFill>
                  <a:schemeClr val="tx1"/>
                </a:solidFill>
                <a:effectLst/>
                <a:latin typeface="Google Sans Tex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Thuộc tính:</a:t>
            </a:r>
            <a:r>
              <a:rPr kumimoji="0" lang="en-US" altLang="en-US" sz="1800" b="0" i="0" u="none" strike="noStrike" cap="none" normalizeH="0" baseline="0">
                <a:ln>
                  <a:noFill/>
                </a:ln>
                <a:solidFill>
                  <a:schemeClr val="tx1"/>
                </a:solidFill>
                <a:effectLst/>
                <a:latin typeface="Google Sans Text"/>
              </a:rPr>
              <a:t> Mã khách hàng (ID), Tên khách hàng, Số điện thoại, Địa chỉ.</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a:ln>
                  <a:noFill/>
                </a:ln>
                <a:solidFill>
                  <a:schemeClr val="tx1"/>
                </a:solidFill>
                <a:effectLst/>
                <a:latin typeface="Google Sans Text"/>
              </a:rPr>
              <a:t>Thực thể: Sản phẩm (Product)</a:t>
            </a:r>
            <a:r>
              <a:rPr kumimoji="0" lang="en-US" altLang="en-US" sz="1800" b="0" i="0" u="none" strike="noStrike" cap="none" normalizeH="0" baseline="0">
                <a:ln>
                  <a:noFill/>
                </a:ln>
                <a:solidFill>
                  <a:schemeClr val="tx1"/>
                </a:solidFill>
                <a:effectLst/>
                <a:latin typeface="Google Sans Tex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Thuộc tính:</a:t>
            </a:r>
            <a:r>
              <a:rPr kumimoji="0" lang="en-US" altLang="en-US" sz="1800" b="0" i="0" u="none" strike="noStrike" cap="none" normalizeH="0" baseline="0">
                <a:ln>
                  <a:noFill/>
                </a:ln>
                <a:solidFill>
                  <a:schemeClr val="tx1"/>
                </a:solidFill>
                <a:effectLst/>
                <a:latin typeface="Google Sans Text"/>
              </a:rPr>
              <a:t> Mã sản phẩm (ID), Tên sản phẩm, Đơn giá.</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a:ln>
                  <a:noFill/>
                </a:ln>
                <a:solidFill>
                  <a:schemeClr val="tx1"/>
                </a:solidFill>
                <a:effectLst/>
                <a:latin typeface="Google Sans Text"/>
              </a:rPr>
              <a:t>Thực thể: Hóa đơn (Order/Invoice)</a:t>
            </a:r>
            <a:r>
              <a:rPr kumimoji="0" lang="en-US" altLang="en-US" sz="1800" b="0" i="0" u="none" strike="noStrike" cap="none" normalizeH="0" baseline="0">
                <a:ln>
                  <a:noFill/>
                </a:ln>
                <a:solidFill>
                  <a:schemeClr val="tx1"/>
                </a:solidFill>
                <a:effectLst/>
                <a:latin typeface="Google Sans Text"/>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Thuộc tính:</a:t>
            </a:r>
            <a:r>
              <a:rPr kumimoji="0" lang="en-US" altLang="en-US" sz="1800" b="0" i="0" u="none" strike="noStrike" cap="none" normalizeH="0" baseline="0">
                <a:ln>
                  <a:noFill/>
                </a:ln>
                <a:solidFill>
                  <a:schemeClr val="tx1"/>
                </a:solidFill>
                <a:effectLst/>
                <a:latin typeface="Google Sans Text"/>
              </a:rPr>
              <a:t> Mã hóa đơn, Ngày tạo, Tổng tiền.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4698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B46C9E-3953-C08D-AFAF-F57724CF23E0}"/>
              </a:ext>
            </a:extLst>
          </p:cNvPr>
          <p:cNvSpPr>
            <a:spLocks noChangeArrowheads="1"/>
          </p:cNvSpPr>
          <p:nvPr/>
        </p:nvSpPr>
        <p:spPr bwMode="auto">
          <a:xfrm>
            <a:off x="1592218" y="1367650"/>
            <a:ext cx="7023882"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Chuẩn 1NF (Loại bỏ cột đa trị):</a:t>
            </a:r>
            <a:r>
              <a:rPr kumimoji="0" lang="en-US" altLang="en-US" sz="1800" b="0" i="0" u="none" strike="noStrike" cap="none" normalizeH="0" baseline="0">
                <a:ln>
                  <a:noFill/>
                </a:ln>
                <a:solidFill>
                  <a:schemeClr val="tx1"/>
                </a:solidFill>
                <a:effectLst/>
                <a:latin typeface="Google Sans Text"/>
              </a:rPr>
              <a:t> Cột </a:t>
            </a:r>
            <a:r>
              <a:rPr kumimoji="0" lang="en-US" altLang="en-US" sz="1600" b="0" i="0" u="none" strike="noStrike" cap="none" normalizeH="0" baseline="0">
                <a:ln>
                  <a:noFill/>
                </a:ln>
                <a:solidFill>
                  <a:schemeClr val="tx1"/>
                </a:solidFill>
                <a:effectLst/>
                <a:latin typeface="Google Sans Text"/>
              </a:rPr>
              <a:t>DanhSachSanPham</a:t>
            </a:r>
            <a:r>
              <a:rPr kumimoji="0" lang="en-US" altLang="en-US" sz="1200" b="0" i="0" u="none" strike="noStrike" cap="none" normalizeH="0" baseline="0">
                <a:ln>
                  <a:noFill/>
                </a:ln>
                <a:solidFill>
                  <a:schemeClr val="tx1"/>
                </a:solidFill>
                <a:effectLst/>
                <a:latin typeface="Google Sans Text"/>
              </a:rPr>
              <a:t> </a:t>
            </a:r>
            <a:r>
              <a:rPr kumimoji="0" lang="en-US" altLang="en-US" sz="1600" b="0" i="0" u="none" strike="noStrike" cap="none" normalizeH="0" baseline="0">
                <a:ln>
                  <a:noFill/>
                </a:ln>
                <a:solidFill>
                  <a:schemeClr val="tx1"/>
                </a:solidFill>
                <a:effectLst/>
                <a:latin typeface="Google Sans Text"/>
              </a:rPr>
              <a:t>chứa nhiều thông tin (Tên, Số lượng, Đơn giá) trong một ô</a:t>
            </a:r>
            <a:r>
              <a:rPr kumimoji="0" lang="en-US" altLang="en-US" sz="1800" b="0" i="0" u="none" strike="noStrike" cap="none" normalizeH="0" baseline="0">
                <a:ln>
                  <a:noFill/>
                </a:ln>
                <a:solidFill>
                  <a:schemeClr val="tx1"/>
                </a:solidFill>
                <a:effectLst/>
                <a:latin typeface="Google Sans Text"/>
              </a:rPr>
              <a:t>. cần tách danh sách này ra thành các dòng riêng biệt.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Chuẩn 2NF (Loại bỏ phụ thuộc một phần):</a:t>
            </a:r>
            <a:r>
              <a:rPr kumimoji="0" lang="en-US" altLang="en-US" sz="1800" b="0" i="0" u="none" strike="noStrike" cap="none" normalizeH="0" baseline="0">
                <a:ln>
                  <a:noFill/>
                </a:ln>
                <a:solidFill>
                  <a:schemeClr val="tx1"/>
                </a:solidFill>
                <a:effectLst/>
                <a:latin typeface="Google Sans Text"/>
              </a:rPr>
              <a:t> Tách thông tin sản phẩm ra khỏi bảng hóa đơn vì thông tin sản phẩm (như Đơn giá gốc) không phụ thuộc hoàn toàn vào Mã hóa đơn.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Chuẩn 3NF (Loại bỏ phụ thuộc bắc cầu):</a:t>
            </a:r>
            <a:r>
              <a:rPr kumimoji="0" lang="en-US" altLang="en-US" sz="1800" b="0" i="0" u="none" strike="noStrike" cap="none" normalizeH="0" baseline="0">
                <a:ln>
                  <a:noFill/>
                </a:ln>
                <a:solidFill>
                  <a:schemeClr val="tx1"/>
                </a:solidFill>
                <a:effectLst/>
                <a:latin typeface="Google Sans Text"/>
              </a:rPr>
              <a:t> Tách thông tin Khách hàng ra bảng riêng. Trong bảng Hóa đơn ban đầu, Địa chỉ khách hàng phụ thuộc vào Tên khách hàng, Tên khách hàng lại phụ thuộc vào Mã hóa đơn.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3A5923C-E689-EA26-4714-1B51F4F0C018}"/>
              </a:ext>
            </a:extLst>
          </p:cNvPr>
          <p:cNvSpPr txBox="1"/>
          <p:nvPr/>
        </p:nvSpPr>
        <p:spPr>
          <a:xfrm>
            <a:off x="162613" y="126418"/>
            <a:ext cx="6094428"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a:ln>
                  <a:noFill/>
                </a:ln>
                <a:solidFill>
                  <a:schemeClr val="tx1"/>
                </a:solidFill>
                <a:effectLst/>
                <a:latin typeface="Google Sans Text"/>
              </a:rPr>
              <a:t>Bài 2: Chuẩn hóa dữ liệu (1NF → 3NF) </a:t>
            </a:r>
            <a:endParaRPr kumimoji="0" lang="en-US" altLang="en-US" sz="2400" b="1" i="0" u="sng" strike="noStrike" cap="none" normalizeH="0" baseline="0">
              <a:ln>
                <a:noFill/>
              </a:ln>
              <a:solidFill>
                <a:schemeClr val="tx1"/>
              </a:solidFill>
              <a:effectLst/>
            </a:endParaRPr>
          </a:p>
        </p:txBody>
      </p:sp>
    </p:spTree>
    <p:extLst>
      <p:ext uri="{BB962C8B-B14F-4D97-AF65-F5344CB8AC3E}">
        <p14:creationId xmlns:p14="http://schemas.microsoft.com/office/powerpoint/2010/main" val="1609694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98EDFF-5D28-5BE6-7565-2E64C66F6DE6}"/>
              </a:ext>
            </a:extLst>
          </p:cNvPr>
          <p:cNvSpPr txBox="1"/>
          <p:nvPr/>
        </p:nvSpPr>
        <p:spPr>
          <a:xfrm>
            <a:off x="238027" y="192406"/>
            <a:ext cx="6094428" cy="369332"/>
          </a:xfrm>
          <a:prstGeom prst="rect">
            <a:avLst/>
          </a:prstGeom>
          <a:noFill/>
        </p:spPr>
        <p:txBody>
          <a:bodyPr wrap="square">
            <a:spAutoFit/>
          </a:bodyPr>
          <a:lstStyle/>
          <a:p>
            <a:r>
              <a:rPr lang="en-US"/>
              <a:t>Bài 3: Xác định Khóa và Quan hệ</a:t>
            </a:r>
          </a:p>
        </p:txBody>
      </p:sp>
      <p:sp>
        <p:nvSpPr>
          <p:cNvPr id="4" name="Rectangle 1">
            <a:extLst>
              <a:ext uri="{FF2B5EF4-FFF2-40B4-BE49-F238E27FC236}">
                <a16:creationId xmlns:a16="http://schemas.microsoft.com/office/drawing/2014/main" id="{A1707F83-00AC-5C36-DC6C-106C2D42CB1B}"/>
              </a:ext>
            </a:extLst>
          </p:cNvPr>
          <p:cNvSpPr>
            <a:spLocks noChangeArrowheads="1"/>
          </p:cNvSpPr>
          <p:nvPr/>
        </p:nvSpPr>
        <p:spPr bwMode="auto">
          <a:xfrm>
            <a:off x="238027" y="1035757"/>
            <a:ext cx="11479491" cy="4909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1. Xác định Khóa chính (Primary Key - PK)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Bảng KhachHang:</a:t>
            </a:r>
            <a:r>
              <a:rPr kumimoji="0" lang="en-US" altLang="en-US" sz="1800" b="0" i="0" u="none" strike="noStrike" cap="none" normalizeH="0" baseline="0">
                <a:ln>
                  <a:noFill/>
                </a:ln>
                <a:solidFill>
                  <a:schemeClr val="tx1"/>
                </a:solidFill>
                <a:effectLst/>
                <a:latin typeface="Google Sans Text"/>
              </a:rPr>
              <a:t> </a:t>
            </a:r>
            <a:r>
              <a:rPr kumimoji="0" lang="en-US" altLang="en-US" sz="1600" b="0" i="0" u="none" strike="noStrike" cap="none" normalizeH="0" baseline="0">
                <a:ln>
                  <a:noFill/>
                </a:ln>
                <a:solidFill>
                  <a:schemeClr val="tx1"/>
                </a:solidFill>
                <a:effectLst/>
                <a:latin typeface="Google Sans Text"/>
              </a:rPr>
              <a:t>MaKH</a:t>
            </a:r>
            <a:r>
              <a:rPr kumimoji="0" lang="en-US" altLang="en-US" sz="1200" b="0" i="0" u="none" strike="noStrike" cap="none" normalizeH="0" baseline="0">
                <a:ln>
                  <a:noFill/>
                </a:ln>
                <a:solidFill>
                  <a:schemeClr val="tx1"/>
                </a:solidFill>
                <a:effectLst/>
                <a:latin typeface="Google Sans Text"/>
              </a:rPr>
              <a:t> </a:t>
            </a:r>
            <a:r>
              <a:rPr kumimoji="0" lang="en-US" altLang="en-US" sz="1600" b="0" i="0" u="none" strike="noStrike" cap="none" normalizeH="0" baseline="0">
                <a:ln>
                  <a:noFill/>
                </a:ln>
                <a:solidFill>
                  <a:schemeClr val="tx1"/>
                </a:solidFill>
                <a:effectLst/>
                <a:latin typeface="Google Sans Text"/>
              </a:rPr>
              <a:t>là PK.</a:t>
            </a:r>
            <a:endParaRPr kumimoji="0" lang="en-US" altLang="en-US" sz="2400" b="0" i="0" u="none" strike="noStrike" cap="none" normalizeH="0" baseline="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Bảng SanPham:</a:t>
            </a:r>
            <a:r>
              <a:rPr kumimoji="0" lang="en-US" altLang="en-US" sz="1800" b="0" i="0" u="none" strike="noStrike" cap="none" normalizeH="0" baseline="0">
                <a:ln>
                  <a:noFill/>
                </a:ln>
                <a:solidFill>
                  <a:schemeClr val="tx1"/>
                </a:solidFill>
                <a:effectLst/>
                <a:latin typeface="Google Sans Text"/>
              </a:rPr>
              <a:t> </a:t>
            </a:r>
            <a:r>
              <a:rPr kumimoji="0" lang="en-US" altLang="en-US" b="0" i="0" u="none" strike="noStrike" cap="none" normalizeH="0" baseline="0">
                <a:ln>
                  <a:noFill/>
                </a:ln>
                <a:solidFill>
                  <a:schemeClr val="tx1"/>
                </a:solidFill>
                <a:effectLst/>
                <a:latin typeface="Google Sans Text"/>
              </a:rPr>
              <a:t>MaSP</a:t>
            </a:r>
            <a:r>
              <a:rPr kumimoji="0" lang="en-US" altLang="en-US" sz="1400" b="0" i="0" u="none" strike="noStrike" cap="none" normalizeH="0" baseline="0">
                <a:ln>
                  <a:noFill/>
                </a:ln>
                <a:solidFill>
                  <a:schemeClr val="tx1"/>
                </a:solidFill>
                <a:effectLst/>
                <a:latin typeface="Google Sans Text"/>
              </a:rPr>
              <a:t> </a:t>
            </a:r>
            <a:r>
              <a:rPr kumimoji="0" lang="en-US" altLang="en-US" sz="1600" b="0" i="0" u="none" strike="noStrike" cap="none" normalizeH="0" baseline="0">
                <a:ln>
                  <a:noFill/>
                </a:ln>
                <a:solidFill>
                  <a:schemeClr val="tx1"/>
                </a:solidFill>
                <a:effectLst/>
                <a:latin typeface="Google Sans Text"/>
              </a:rPr>
              <a:t>là PK.</a:t>
            </a:r>
            <a:endParaRPr kumimoji="0" lang="en-US" altLang="en-US" sz="1800" b="0" i="0" u="none" strike="noStrike" cap="none" normalizeH="0" baseline="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Bảng HoaDon:</a:t>
            </a:r>
            <a:r>
              <a:rPr kumimoji="0" lang="en-US" altLang="en-US" sz="1800" b="0" i="0" u="none" strike="noStrike" cap="none" normalizeH="0" baseline="0">
                <a:ln>
                  <a:noFill/>
                </a:ln>
                <a:solidFill>
                  <a:schemeClr val="tx1"/>
                </a:solidFill>
                <a:effectLst/>
                <a:latin typeface="Google Sans Text"/>
              </a:rPr>
              <a:t> </a:t>
            </a:r>
            <a:r>
              <a:rPr kumimoji="0" lang="en-US" altLang="en-US" sz="2000" b="0" i="0" u="none" strike="noStrike" cap="none" normalizeH="0" baseline="0">
                <a:ln>
                  <a:noFill/>
                </a:ln>
                <a:solidFill>
                  <a:schemeClr val="tx1"/>
                </a:solidFill>
                <a:effectLst/>
                <a:latin typeface="Google Sans Text"/>
              </a:rPr>
              <a:t>MaHD</a:t>
            </a:r>
            <a:r>
              <a:rPr kumimoji="0" lang="en-US" altLang="en-US" sz="1600" b="0" i="0" u="none" strike="noStrike" cap="none" normalizeH="0" baseline="0">
                <a:ln>
                  <a:noFill/>
                </a:ln>
                <a:solidFill>
                  <a:schemeClr val="tx1"/>
                </a:solidFill>
                <a:effectLst/>
                <a:latin typeface="Google Sans Text"/>
              </a:rPr>
              <a:t> là PK.</a:t>
            </a:r>
            <a:endParaRPr kumimoji="0" lang="en-US" altLang="en-US" sz="1800" b="0" i="0" u="none" strike="noStrike" cap="none" normalizeH="0" baseline="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Bảng ChiTietHD:</a:t>
            </a:r>
            <a:r>
              <a:rPr kumimoji="0" lang="en-US" altLang="en-US" sz="1800" b="0" i="0" u="none" strike="noStrike" cap="none" normalizeH="0" baseline="0">
                <a:ln>
                  <a:noFill/>
                </a:ln>
                <a:solidFill>
                  <a:schemeClr val="tx1"/>
                </a:solidFill>
                <a:effectLst/>
                <a:latin typeface="Google Sans Text"/>
              </a:rPr>
              <a:t> Khóa chính phức hợp gồm (</a:t>
            </a:r>
            <a:r>
              <a:rPr kumimoji="0" lang="en-US" altLang="en-US" b="0" i="0" u="none" strike="noStrike" cap="none" normalizeH="0" baseline="0">
                <a:ln>
                  <a:noFill/>
                </a:ln>
                <a:solidFill>
                  <a:schemeClr val="tx1"/>
                </a:solidFill>
                <a:effectLst/>
                <a:latin typeface="Google Sans Text"/>
              </a:rPr>
              <a:t>MaHD</a:t>
            </a:r>
            <a:r>
              <a:rPr kumimoji="0" lang="en-US" altLang="en-US" sz="1400" b="0" i="0" u="none" strike="noStrike" cap="none" normalizeH="0" baseline="0">
                <a:ln>
                  <a:noFill/>
                </a:ln>
                <a:solidFill>
                  <a:schemeClr val="tx1"/>
                </a:solidFill>
                <a:effectLst/>
                <a:latin typeface="Google Sans Text"/>
              </a:rPr>
              <a:t>, </a:t>
            </a:r>
            <a:r>
              <a:rPr kumimoji="0" lang="en-US" altLang="en-US" b="0" i="0" u="none" strike="noStrike" cap="none" normalizeH="0" baseline="0">
                <a:ln>
                  <a:noFill/>
                </a:ln>
                <a:solidFill>
                  <a:schemeClr val="tx1"/>
                </a:solidFill>
                <a:effectLst/>
                <a:latin typeface="Google Sans Text"/>
              </a:rPr>
              <a:t>MaSP</a:t>
            </a:r>
            <a:r>
              <a:rPr kumimoji="0" lang="en-US" altLang="en-US" sz="1400" b="0" i="0" u="none" strike="noStrike" cap="none" normalizeH="0" baseline="0">
                <a:ln>
                  <a:noFill/>
                </a:ln>
                <a:solidFill>
                  <a:schemeClr val="tx1"/>
                </a:solidFill>
                <a:effectLst/>
                <a:latin typeface="Google Sans Text"/>
              </a:rPr>
              <a:t>).</a:t>
            </a:r>
            <a:endParaRPr kumimoji="0" lang="en-US" altLang="en-US" sz="4000" b="0" i="0" u="none" strike="noStrike" cap="none" normalizeH="0" baseline="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2. Xác định Khóa ngoại (Foreign Key - FK)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Bảng HoaDon:</a:t>
            </a:r>
            <a:r>
              <a:rPr kumimoji="0" lang="en-US" altLang="en-US" sz="1800" b="0" i="0" u="none" strike="noStrike" cap="none" normalizeH="0" baseline="0">
                <a:ln>
                  <a:noFill/>
                </a:ln>
                <a:solidFill>
                  <a:schemeClr val="tx1"/>
                </a:solidFill>
                <a:effectLst/>
                <a:latin typeface="Google Sans Text"/>
              </a:rPr>
              <a:t> Cột </a:t>
            </a:r>
            <a:r>
              <a:rPr kumimoji="0" lang="en-US" altLang="en-US" sz="2000" b="0" i="0" u="none" strike="noStrike" cap="none" normalizeH="0" baseline="0">
                <a:ln>
                  <a:noFill/>
                </a:ln>
                <a:solidFill>
                  <a:schemeClr val="tx1"/>
                </a:solidFill>
                <a:effectLst/>
                <a:latin typeface="Google Sans Text"/>
              </a:rPr>
              <a:t>MaKH</a:t>
            </a:r>
            <a:r>
              <a:rPr kumimoji="0" lang="en-US" altLang="en-US" sz="1600" b="0" i="0" u="none" strike="noStrike" cap="none" normalizeH="0" baseline="0">
                <a:ln>
                  <a:noFill/>
                </a:ln>
                <a:solidFill>
                  <a:schemeClr val="tx1"/>
                </a:solidFill>
                <a:effectLst/>
                <a:latin typeface="Google Sans Text"/>
              </a:rPr>
              <a:t> là FK tham chiếu đến PK </a:t>
            </a:r>
            <a:r>
              <a:rPr kumimoji="0" lang="en-US" altLang="en-US" sz="2000" b="0" i="0" u="none" strike="noStrike" cap="none" normalizeH="0" baseline="0">
                <a:ln>
                  <a:noFill/>
                </a:ln>
                <a:solidFill>
                  <a:schemeClr val="tx1"/>
                </a:solidFill>
                <a:effectLst/>
                <a:latin typeface="Google Sans Text"/>
              </a:rPr>
              <a:t>MaKH</a:t>
            </a:r>
            <a:r>
              <a:rPr kumimoji="0" lang="en-US" altLang="en-US" sz="1600" b="0" i="0" u="none" strike="noStrike" cap="none" normalizeH="0" baseline="0">
                <a:ln>
                  <a:noFill/>
                </a:ln>
                <a:solidFill>
                  <a:schemeClr val="tx1"/>
                </a:solidFill>
                <a:effectLst/>
                <a:latin typeface="Google Sans Text"/>
              </a:rPr>
              <a:t> của bảng </a:t>
            </a:r>
            <a:r>
              <a:rPr kumimoji="0" lang="en-US" altLang="en-US" sz="1800" b="1" i="0" u="none" strike="noStrike" cap="none" normalizeH="0" baseline="0">
                <a:ln>
                  <a:noFill/>
                </a:ln>
                <a:solidFill>
                  <a:schemeClr val="tx1"/>
                </a:solidFill>
                <a:effectLst/>
                <a:latin typeface="Google Sans Text"/>
              </a:rPr>
              <a:t>KhachHang</a:t>
            </a:r>
            <a:r>
              <a:rPr kumimoji="0" lang="en-US" altLang="en-US" sz="18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Bảng ChiTietHD:</a:t>
            </a:r>
            <a:r>
              <a:rPr kumimoji="0" lang="en-US" altLang="en-US" sz="1800" b="0" i="0" u="none" strike="noStrike" cap="none" normalizeH="0" baseline="0">
                <a:ln>
                  <a:noFill/>
                </a:ln>
                <a:solidFill>
                  <a:schemeClr val="tx1"/>
                </a:solidFill>
                <a:effectLst/>
                <a:latin typeface="Google Sans Text"/>
              </a:rPr>
              <a:t> * Cột </a:t>
            </a:r>
            <a:r>
              <a:rPr kumimoji="0" lang="en-US" altLang="en-US" sz="2000" b="0" i="0" u="none" strike="noStrike" cap="none" normalizeH="0" baseline="0">
                <a:ln>
                  <a:noFill/>
                </a:ln>
                <a:solidFill>
                  <a:schemeClr val="tx1"/>
                </a:solidFill>
                <a:effectLst/>
                <a:latin typeface="Google Sans Text"/>
              </a:rPr>
              <a:t>MaHD</a:t>
            </a:r>
            <a:r>
              <a:rPr kumimoji="0" lang="en-US" altLang="en-US" sz="1600" b="0" i="0" u="none" strike="noStrike" cap="none" normalizeH="0" baseline="0">
                <a:ln>
                  <a:noFill/>
                </a:ln>
                <a:solidFill>
                  <a:schemeClr val="tx1"/>
                </a:solidFill>
                <a:effectLst/>
                <a:latin typeface="Google Sans Text"/>
              </a:rPr>
              <a:t> là FK tham chiếu đến PK </a:t>
            </a:r>
            <a:r>
              <a:rPr kumimoji="0" lang="en-US" altLang="en-US" sz="2000" b="0" i="0" u="none" strike="noStrike" cap="none" normalizeH="0" baseline="0">
                <a:ln>
                  <a:noFill/>
                </a:ln>
                <a:solidFill>
                  <a:schemeClr val="tx1"/>
                </a:solidFill>
                <a:effectLst/>
                <a:latin typeface="Google Sans Text"/>
              </a:rPr>
              <a:t>MaHD</a:t>
            </a:r>
            <a:r>
              <a:rPr kumimoji="0" lang="en-US" altLang="en-US" sz="1600" b="0" i="0" u="none" strike="noStrike" cap="none" normalizeH="0" baseline="0">
                <a:ln>
                  <a:noFill/>
                </a:ln>
                <a:solidFill>
                  <a:schemeClr val="tx1"/>
                </a:solidFill>
                <a:effectLst/>
                <a:latin typeface="Google Sans Text"/>
              </a:rPr>
              <a:t> của bảng </a:t>
            </a:r>
            <a:r>
              <a:rPr kumimoji="0" lang="en-US" altLang="en-US" sz="1800" b="1" i="0" u="none" strike="noStrike" cap="none" normalizeH="0" baseline="0">
                <a:ln>
                  <a:noFill/>
                </a:ln>
                <a:solidFill>
                  <a:schemeClr val="tx1"/>
                </a:solidFill>
                <a:effectLst/>
                <a:latin typeface="Google Sans Text"/>
              </a:rPr>
              <a:t>HoaDon</a:t>
            </a:r>
            <a:r>
              <a:rPr kumimoji="0" lang="en-US" altLang="en-US" sz="1800" b="0" i="0" u="none" strike="noStrike" cap="none" normalizeH="0" baseline="0">
                <a:ln>
                  <a:noFill/>
                </a:ln>
                <a:solidFill>
                  <a:schemeClr val="tx1"/>
                </a:solidFill>
                <a:effectLst/>
                <a:latin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Google Sans Text"/>
              </a:rPr>
              <a:t>Cột </a:t>
            </a:r>
            <a:r>
              <a:rPr kumimoji="0" lang="en-US" altLang="en-US" sz="2000" b="0" i="0" u="none" strike="noStrike" cap="none" normalizeH="0" baseline="0">
                <a:ln>
                  <a:noFill/>
                </a:ln>
                <a:solidFill>
                  <a:schemeClr val="tx1"/>
                </a:solidFill>
                <a:effectLst/>
                <a:latin typeface="Google Sans Text"/>
              </a:rPr>
              <a:t>MaSP</a:t>
            </a:r>
            <a:r>
              <a:rPr kumimoji="0" lang="en-US" altLang="en-US" sz="1600" b="0" i="0" u="none" strike="noStrike" cap="none" normalizeH="0" baseline="0">
                <a:ln>
                  <a:noFill/>
                </a:ln>
                <a:solidFill>
                  <a:schemeClr val="tx1"/>
                </a:solidFill>
                <a:effectLst/>
                <a:latin typeface="Google Sans Text"/>
              </a:rPr>
              <a:t> là FK tham chiếu đến PK </a:t>
            </a:r>
            <a:r>
              <a:rPr kumimoji="0" lang="en-US" altLang="en-US" sz="2000" b="0" i="0" u="none" strike="noStrike" cap="none" normalizeH="0" baseline="0">
                <a:ln>
                  <a:noFill/>
                </a:ln>
                <a:solidFill>
                  <a:schemeClr val="tx1"/>
                </a:solidFill>
                <a:effectLst/>
                <a:latin typeface="Google Sans Text"/>
              </a:rPr>
              <a:t>MaSP</a:t>
            </a:r>
            <a:r>
              <a:rPr kumimoji="0" lang="en-US" altLang="en-US" sz="1600" b="0" i="0" u="none" strike="noStrike" cap="none" normalizeH="0" baseline="0">
                <a:ln>
                  <a:noFill/>
                </a:ln>
                <a:solidFill>
                  <a:schemeClr val="tx1"/>
                </a:solidFill>
                <a:effectLst/>
                <a:latin typeface="Google Sans Text"/>
              </a:rPr>
              <a:t> của bảng </a:t>
            </a:r>
            <a:r>
              <a:rPr kumimoji="0" lang="en-US" altLang="en-US" sz="1800" b="1" i="0" u="none" strike="noStrike" cap="none" normalizeH="0" baseline="0">
                <a:ln>
                  <a:noFill/>
                </a:ln>
                <a:solidFill>
                  <a:schemeClr val="tx1"/>
                </a:solidFill>
                <a:effectLst/>
                <a:latin typeface="Google Sans Text"/>
              </a:rPr>
              <a:t>SanPham</a:t>
            </a:r>
            <a:r>
              <a:rPr kumimoji="0" lang="en-US" altLang="en-US" sz="18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3. Mô tả Quan hệ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Khách hàng - Hóa đơn:</a:t>
            </a:r>
            <a:r>
              <a:rPr kumimoji="0" lang="en-US" altLang="en-US" sz="1800" b="0" i="0" u="none" strike="noStrike" cap="none" normalizeH="0" baseline="0">
                <a:ln>
                  <a:noFill/>
                </a:ln>
                <a:solidFill>
                  <a:schemeClr val="tx1"/>
                </a:solidFill>
                <a:effectLst/>
                <a:latin typeface="Google Sans Text"/>
              </a:rPr>
              <a:t> Quan hệ </a:t>
            </a:r>
            <a:r>
              <a:rPr kumimoji="0" lang="en-US" altLang="en-US" sz="1800" b="1" i="0" u="none" strike="noStrike" cap="none" normalizeH="0" baseline="0">
                <a:ln>
                  <a:noFill/>
                </a:ln>
                <a:solidFill>
                  <a:schemeClr val="tx1"/>
                </a:solidFill>
                <a:effectLst/>
                <a:latin typeface="Google Sans Text"/>
              </a:rPr>
              <a:t>Một - Nhiều (1-n)</a:t>
            </a:r>
            <a:r>
              <a:rPr kumimoji="0" lang="en-US" altLang="en-US" sz="1800" b="0" i="0" u="none" strike="noStrike" cap="none" normalizeH="0" baseline="0">
                <a:ln>
                  <a:noFill/>
                </a:ln>
                <a:solidFill>
                  <a:schemeClr val="tx1"/>
                </a:solidFill>
                <a:effectLst/>
                <a:latin typeface="Google Sans Text"/>
              </a:rPr>
              <a:t>. Một khách hàng có thể có nhiều hóa đơn, nhưng một hóa đơn chỉ thuộc về một khách hàng duy nhất.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Hóa đơn - Sản phẩm:</a:t>
            </a:r>
            <a:r>
              <a:rPr kumimoji="0" lang="en-US" altLang="en-US" sz="1800" b="0" i="0" u="none" strike="noStrike" cap="none" normalizeH="0" baseline="0">
                <a:ln>
                  <a:noFill/>
                </a:ln>
                <a:solidFill>
                  <a:schemeClr val="tx1"/>
                </a:solidFill>
                <a:effectLst/>
                <a:latin typeface="Google Sans Text"/>
              </a:rPr>
              <a:t> Quan hệ gốc là </a:t>
            </a:r>
            <a:r>
              <a:rPr kumimoji="0" lang="en-US" altLang="en-US" sz="1800" b="1" i="0" u="none" strike="noStrike" cap="none" normalizeH="0" baseline="0">
                <a:ln>
                  <a:noFill/>
                </a:ln>
                <a:solidFill>
                  <a:schemeClr val="tx1"/>
                </a:solidFill>
                <a:effectLst/>
                <a:latin typeface="Google Sans Text"/>
              </a:rPr>
              <a:t>Nhiều - Nhiều (n-n)</a:t>
            </a:r>
            <a:r>
              <a:rPr kumimoji="0" lang="en-US" altLang="en-US" sz="1800" b="0" i="0" u="none" strike="noStrike" cap="none" normalizeH="0" baseline="0">
                <a:ln>
                  <a:noFill/>
                </a:ln>
                <a:solidFill>
                  <a:schemeClr val="tx1"/>
                </a:solidFill>
                <a:effectLst/>
                <a:latin typeface="Google Sans Text"/>
              </a:rPr>
              <a:t>. Quan hệ này đã được giải quyết bằng cách tách ra bảng trung gian là </a:t>
            </a:r>
            <a:r>
              <a:rPr kumimoji="0" lang="en-US" altLang="en-US" sz="1800" b="1" i="0" u="none" strike="noStrike" cap="none" normalizeH="0" baseline="0">
                <a:ln>
                  <a:noFill/>
                </a:ln>
                <a:solidFill>
                  <a:schemeClr val="tx1"/>
                </a:solidFill>
                <a:effectLst/>
                <a:latin typeface="Google Sans Text"/>
              </a:rPr>
              <a:t>ChiTietHD</a:t>
            </a:r>
            <a:r>
              <a:rPr kumimoji="0" lang="en-US" altLang="en-US" sz="1800" b="0" i="0" u="none" strike="noStrike" cap="none" normalizeH="0" baseline="0">
                <a:ln>
                  <a:noFill/>
                </a:ln>
                <a:solidFill>
                  <a:schemeClr val="tx1"/>
                </a:solidFill>
                <a:effectLst/>
                <a:latin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HoaDon - ChiTietHD:</a:t>
            </a:r>
            <a:r>
              <a:rPr kumimoji="0" lang="en-US" altLang="en-US" sz="1800" b="0" i="0" u="none" strike="noStrike" cap="none" normalizeH="0" baseline="0">
                <a:ln>
                  <a:noFill/>
                </a:ln>
                <a:solidFill>
                  <a:schemeClr val="tx1"/>
                </a:solidFill>
                <a:effectLst/>
                <a:latin typeface="Google Sans Text"/>
              </a:rPr>
              <a:t> Quan hệ </a:t>
            </a:r>
            <a:r>
              <a:rPr kumimoji="0" lang="en-US" altLang="en-US" sz="1800" b="1" i="0" u="none" strike="noStrike" cap="none" normalizeH="0" baseline="0">
                <a:ln>
                  <a:noFill/>
                </a:ln>
                <a:solidFill>
                  <a:schemeClr val="tx1"/>
                </a:solidFill>
                <a:effectLst/>
                <a:latin typeface="Google Sans Text"/>
              </a:rPr>
              <a:t>1-n</a:t>
            </a:r>
            <a:r>
              <a:rPr kumimoji="0" lang="en-US" altLang="en-US" sz="1800" b="0" i="0" u="none" strike="noStrike" cap="none" normalizeH="0" baseline="0">
                <a:ln>
                  <a:noFill/>
                </a:ln>
                <a:solidFill>
                  <a:schemeClr val="tx1"/>
                </a:solidFill>
                <a:effectLst/>
                <a:latin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SanPham - ChiTietHD:</a:t>
            </a:r>
            <a:r>
              <a:rPr kumimoji="0" lang="en-US" altLang="en-US" sz="1800" b="0" i="0" u="none" strike="noStrike" cap="none" normalizeH="0" baseline="0">
                <a:ln>
                  <a:noFill/>
                </a:ln>
                <a:solidFill>
                  <a:schemeClr val="tx1"/>
                </a:solidFill>
                <a:effectLst/>
                <a:latin typeface="Google Sans Text"/>
              </a:rPr>
              <a:t> Quan hệ </a:t>
            </a:r>
            <a:r>
              <a:rPr kumimoji="0" lang="en-US" altLang="en-US" sz="1800" b="1" i="0" u="none" strike="noStrike" cap="none" normalizeH="0" baseline="0">
                <a:ln>
                  <a:noFill/>
                </a:ln>
                <a:solidFill>
                  <a:schemeClr val="tx1"/>
                </a:solidFill>
                <a:effectLst/>
                <a:latin typeface="Google Sans Text"/>
              </a:rPr>
              <a:t>1-n</a:t>
            </a:r>
            <a:r>
              <a:rPr kumimoji="0" lang="en-US" altLang="en-US" sz="1800" b="0" i="0" u="none" strike="noStrike" cap="none" normalizeH="0" baseline="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0809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111FD3-466A-1788-1893-88B4A6DD0796}"/>
              </a:ext>
            </a:extLst>
          </p:cNvPr>
          <p:cNvSpPr txBox="1"/>
          <p:nvPr/>
        </p:nvSpPr>
        <p:spPr>
          <a:xfrm>
            <a:off x="103695" y="103695"/>
            <a:ext cx="5882326" cy="461665"/>
          </a:xfrm>
          <a:prstGeom prst="rect">
            <a:avLst/>
          </a:prstGeom>
          <a:noFill/>
        </p:spPr>
        <p:txBody>
          <a:bodyPr wrap="square" rtlCol="0">
            <a:spAutoFit/>
          </a:bodyPr>
          <a:lstStyle/>
          <a:p>
            <a:r>
              <a:rPr lang="en-US" sz="2400" b="1" u="sng"/>
              <a:t>BÀI 4</a:t>
            </a:r>
          </a:p>
        </p:txBody>
      </p:sp>
      <p:pic>
        <p:nvPicPr>
          <p:cNvPr id="3" name="Picture 2">
            <a:extLst>
              <a:ext uri="{FF2B5EF4-FFF2-40B4-BE49-F238E27FC236}">
                <a16:creationId xmlns:a16="http://schemas.microsoft.com/office/drawing/2014/main" id="{3399429F-BE41-4DF6-AB1C-A65BCBBDF9D4}"/>
              </a:ext>
            </a:extLst>
          </p:cNvPr>
          <p:cNvPicPr>
            <a:picLocks noChangeAspect="1"/>
          </p:cNvPicPr>
          <p:nvPr/>
        </p:nvPicPr>
        <p:blipFill>
          <a:blip r:embed="rId2"/>
          <a:stretch>
            <a:fillRect/>
          </a:stretch>
        </p:blipFill>
        <p:spPr>
          <a:xfrm>
            <a:off x="1579514" y="888476"/>
            <a:ext cx="9032972" cy="5081047"/>
          </a:xfrm>
          <a:prstGeom prst="rect">
            <a:avLst/>
          </a:prstGeom>
        </p:spPr>
      </p:pic>
    </p:spTree>
    <p:extLst>
      <p:ext uri="{BB962C8B-B14F-4D97-AF65-F5344CB8AC3E}">
        <p14:creationId xmlns:p14="http://schemas.microsoft.com/office/powerpoint/2010/main" val="503365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450</Words>
  <Application>Microsoft Office PowerPoint</Application>
  <PresentationFormat>Widescreen</PresentationFormat>
  <Paragraphs>33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Lượng Bùi Văn</dc:creator>
  <cp:lastModifiedBy>Lượng Bùi Văn</cp:lastModifiedBy>
  <cp:revision>1</cp:revision>
  <dcterms:created xsi:type="dcterms:W3CDTF">2026-03-13T12:07:50Z</dcterms:created>
  <dcterms:modified xsi:type="dcterms:W3CDTF">2026-03-15T09:48:08Z</dcterms:modified>
</cp:coreProperties>
</file>